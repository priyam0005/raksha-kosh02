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epWn/MimBn3irtl3gEqk0t3Sv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E8D21FF-D5F4-4B06-9A4B-816CEE594BD0}">
  <a:tblStyle styleId="{8E8D21FF-D5F4-4B06-9A4B-816CEE594B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1906" y="-10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74674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4" name="Google Shape;124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2" name="Google Shape;152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6" name="Google Shape;156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7" name="Google Shape;177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8" name="Google Shape;178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1" name="Google Shape;181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1" name="Google Shape;20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5" name="Google Shape;20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5" name="Google Shape;225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6" name="Google Shape;226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9" name="Google Shape;249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53" name="Google Shape;253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3" name="Google Shape;273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7" name="Google Shape;277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7" name="Google Shape;297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8" name="Google Shape;298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1" name="Google Shape;301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1" name="Google Shape;321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2" name="Google Shape;322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5" name="Google Shape;325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45" name="Google Shape;345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6" name="Google Shape;346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49" name="Google Shape;349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69" name="Google Shape;369;p1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0" name="Google Shape;370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73" name="Google Shape;373;p1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jp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93" name="Google Shape;93;p1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994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994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95" name="Google Shape;95;p1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96" name="Google Shape;96;p1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068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97" name="Google Shape;97;p1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068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98" name="Google Shape;98;p1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>
                  <a:alpha val="9882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104" name="Google Shape;104;p1"/>
          <p:cNvSpPr txBox="1"/>
          <p:nvPr/>
        </p:nvSpPr>
        <p:spPr>
          <a:xfrm>
            <a:off x="2712249" y="2135419"/>
            <a:ext cx="13107702" cy="5410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9" b="0" i="0" u="none" strike="noStrike" cap="none">
                <a:solidFill>
                  <a:srgbClr val="CB6CE6"/>
                </a:solidFill>
                <a:latin typeface="Arial"/>
                <a:ea typeface="Arial"/>
                <a:cs typeface="Arial"/>
                <a:sym typeface="Arial"/>
              </a:rPr>
              <a:t>CYBER CARNIVAL 2026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12124017" y="7286439"/>
            <a:ext cx="791883" cy="1280785"/>
          </a:xfrm>
          <a:custGeom>
            <a:avLst/>
            <a:gdLst/>
            <a:ahLst/>
            <a:cxnLst/>
            <a:rect l="l" t="t" r="r" b="b"/>
            <a:pathLst>
              <a:path w="791883" h="1280785" extrusionOk="0">
                <a:moveTo>
                  <a:pt x="0" y="0"/>
                </a:moveTo>
                <a:lnTo>
                  <a:pt x="791883" y="0"/>
                </a:lnTo>
                <a:lnTo>
                  <a:pt x="791883" y="1280785"/>
                </a:lnTo>
                <a:lnTo>
                  <a:pt x="0" y="1280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4969959" y="452050"/>
            <a:ext cx="3303723" cy="1153300"/>
          </a:xfrm>
          <a:custGeom>
            <a:avLst/>
            <a:gdLst/>
            <a:ahLst/>
            <a:cxnLst/>
            <a:rect l="l" t="t" r="r" b="b"/>
            <a:pathLst>
              <a:path w="3303723" h="1153300" extrusionOk="0">
                <a:moveTo>
                  <a:pt x="0" y="0"/>
                </a:moveTo>
                <a:lnTo>
                  <a:pt x="3303723" y="0"/>
                </a:lnTo>
                <a:lnTo>
                  <a:pt x="3303723" y="1153300"/>
                </a:lnTo>
                <a:lnTo>
                  <a:pt x="0" y="1153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5000"/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p1"/>
          <p:cNvSpPr/>
          <p:nvPr/>
        </p:nvSpPr>
        <p:spPr>
          <a:xfrm>
            <a:off x="1245822" y="7081652"/>
            <a:ext cx="16230600" cy="3000561"/>
          </a:xfrm>
          <a:custGeom>
            <a:avLst/>
            <a:gdLst/>
            <a:ahLst/>
            <a:cxnLst/>
            <a:rect l="l" t="t" r="r" b="b"/>
            <a:pathLst>
              <a:path w="16230600" h="3000561" extrusionOk="0">
                <a:moveTo>
                  <a:pt x="0" y="0"/>
                </a:moveTo>
                <a:lnTo>
                  <a:pt x="16230600" y="0"/>
                </a:lnTo>
                <a:lnTo>
                  <a:pt x="16230600" y="3000560"/>
                </a:lnTo>
                <a:lnTo>
                  <a:pt x="0" y="3000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4000"/>
            </a:blip>
            <a:stretch>
              <a:fillRect t="-79852"/>
            </a:stretch>
          </a:blipFill>
          <a:ln>
            <a:noFill/>
          </a:ln>
        </p:spPr>
      </p:sp>
      <p:sp>
        <p:nvSpPr>
          <p:cNvPr id="108" name="Google Shape;108;p1"/>
          <p:cNvSpPr/>
          <p:nvPr/>
        </p:nvSpPr>
        <p:spPr>
          <a:xfrm>
            <a:off x="0" y="103263"/>
            <a:ext cx="6813493" cy="1337148"/>
          </a:xfrm>
          <a:custGeom>
            <a:avLst/>
            <a:gdLst/>
            <a:ahLst/>
            <a:cxnLst/>
            <a:rect l="l" t="t" r="r" b="b"/>
            <a:pathLst>
              <a:path w="6813493" h="1337148" extrusionOk="0">
                <a:moveTo>
                  <a:pt x="0" y="0"/>
                </a:moveTo>
                <a:lnTo>
                  <a:pt x="6813493" y="0"/>
                </a:lnTo>
                <a:lnTo>
                  <a:pt x="6813493" y="1337148"/>
                </a:lnTo>
                <a:lnTo>
                  <a:pt x="0" y="133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2000"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1"/>
          <p:cNvSpPr/>
          <p:nvPr/>
        </p:nvSpPr>
        <p:spPr>
          <a:xfrm>
            <a:off x="7499396" y="103263"/>
            <a:ext cx="6611317" cy="1297471"/>
          </a:xfrm>
          <a:custGeom>
            <a:avLst/>
            <a:gdLst/>
            <a:ahLst/>
            <a:cxnLst/>
            <a:rect l="l" t="t" r="r" b="b"/>
            <a:pathLst>
              <a:path w="6611317" h="1297471" extrusionOk="0">
                <a:moveTo>
                  <a:pt x="0" y="0"/>
                </a:moveTo>
                <a:lnTo>
                  <a:pt x="6611317" y="0"/>
                </a:lnTo>
                <a:lnTo>
                  <a:pt x="6611317" y="1297471"/>
                </a:lnTo>
                <a:lnTo>
                  <a:pt x="0" y="1297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2000"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1"/>
          <p:cNvSpPr/>
          <p:nvPr/>
        </p:nvSpPr>
        <p:spPr>
          <a:xfrm>
            <a:off x="8273682" y="452050"/>
            <a:ext cx="3303723" cy="1153300"/>
          </a:xfrm>
          <a:custGeom>
            <a:avLst/>
            <a:gdLst/>
            <a:ahLst/>
            <a:cxnLst/>
            <a:rect l="l" t="t" r="r" b="b"/>
            <a:pathLst>
              <a:path w="3303723" h="1153300" extrusionOk="0">
                <a:moveTo>
                  <a:pt x="0" y="0"/>
                </a:moveTo>
                <a:lnTo>
                  <a:pt x="3303723" y="0"/>
                </a:lnTo>
                <a:lnTo>
                  <a:pt x="3303723" y="1153300"/>
                </a:lnTo>
                <a:lnTo>
                  <a:pt x="0" y="1153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4000"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1"/>
          <p:cNvSpPr/>
          <p:nvPr/>
        </p:nvSpPr>
        <p:spPr>
          <a:xfrm>
            <a:off x="1504311" y="247435"/>
            <a:ext cx="3303723" cy="1153300"/>
          </a:xfrm>
          <a:custGeom>
            <a:avLst/>
            <a:gdLst/>
            <a:ahLst/>
            <a:cxnLst/>
            <a:rect l="l" t="t" r="r" b="b"/>
            <a:pathLst>
              <a:path w="3303723" h="1153300" extrusionOk="0">
                <a:moveTo>
                  <a:pt x="0" y="0"/>
                </a:moveTo>
                <a:lnTo>
                  <a:pt x="3303723" y="0"/>
                </a:lnTo>
                <a:lnTo>
                  <a:pt x="3303723" y="1153299"/>
                </a:lnTo>
                <a:lnTo>
                  <a:pt x="0" y="1153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1"/>
          <p:cNvSpPr/>
          <p:nvPr/>
        </p:nvSpPr>
        <p:spPr>
          <a:xfrm>
            <a:off x="377973" y="5869432"/>
            <a:ext cx="1735697" cy="4114800"/>
          </a:xfrm>
          <a:custGeom>
            <a:avLst/>
            <a:gdLst/>
            <a:ahLst/>
            <a:cxnLst/>
            <a:rect l="l" t="t" r="r" b="b"/>
            <a:pathLst>
              <a:path w="1735697" h="4114800" extrusionOk="0">
                <a:moveTo>
                  <a:pt x="0" y="0"/>
                </a:moveTo>
                <a:lnTo>
                  <a:pt x="1735698" y="0"/>
                </a:lnTo>
                <a:lnTo>
                  <a:pt x="1735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1"/>
          <p:cNvSpPr/>
          <p:nvPr/>
        </p:nvSpPr>
        <p:spPr>
          <a:xfrm>
            <a:off x="16162851" y="5967413"/>
            <a:ext cx="1735697" cy="4114800"/>
          </a:xfrm>
          <a:custGeom>
            <a:avLst/>
            <a:gdLst/>
            <a:ahLst/>
            <a:cxnLst/>
            <a:rect l="l" t="t" r="r" b="b"/>
            <a:pathLst>
              <a:path w="1735697" h="4114800" extrusionOk="0">
                <a:moveTo>
                  <a:pt x="0" y="0"/>
                </a:moveTo>
                <a:lnTo>
                  <a:pt x="1735698" y="0"/>
                </a:lnTo>
                <a:lnTo>
                  <a:pt x="1735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18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1"/>
          <p:cNvSpPr/>
          <p:nvPr/>
        </p:nvSpPr>
        <p:spPr>
          <a:xfrm>
            <a:off x="11577405" y="5426520"/>
            <a:ext cx="1859919" cy="1859919"/>
          </a:xfrm>
          <a:custGeom>
            <a:avLst/>
            <a:gdLst/>
            <a:ahLst/>
            <a:cxnLst/>
            <a:rect l="l" t="t" r="r" b="b"/>
            <a:pathLst>
              <a:path w="1859919" h="1859919" extrusionOk="0">
                <a:moveTo>
                  <a:pt x="0" y="0"/>
                </a:moveTo>
                <a:lnTo>
                  <a:pt x="1859919" y="0"/>
                </a:lnTo>
                <a:lnTo>
                  <a:pt x="1859919" y="1859919"/>
                </a:lnTo>
                <a:lnTo>
                  <a:pt x="0" y="18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1"/>
          <p:cNvSpPr/>
          <p:nvPr/>
        </p:nvSpPr>
        <p:spPr>
          <a:xfrm>
            <a:off x="18240918" y="4621585"/>
            <a:ext cx="1859919" cy="1859919"/>
          </a:xfrm>
          <a:custGeom>
            <a:avLst/>
            <a:gdLst/>
            <a:ahLst/>
            <a:cxnLst/>
            <a:rect l="l" t="t" r="r" b="b"/>
            <a:pathLst>
              <a:path w="1859919" h="1859919" extrusionOk="0">
                <a:moveTo>
                  <a:pt x="0" y="0"/>
                </a:moveTo>
                <a:lnTo>
                  <a:pt x="1859919" y="0"/>
                </a:lnTo>
                <a:lnTo>
                  <a:pt x="1859919" y="1859919"/>
                </a:lnTo>
                <a:lnTo>
                  <a:pt x="0" y="18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27000"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1"/>
          <p:cNvSpPr/>
          <p:nvPr/>
        </p:nvSpPr>
        <p:spPr>
          <a:xfrm>
            <a:off x="4969959" y="5426520"/>
            <a:ext cx="1859919" cy="1859919"/>
          </a:xfrm>
          <a:custGeom>
            <a:avLst/>
            <a:gdLst/>
            <a:ahLst/>
            <a:cxnLst/>
            <a:rect l="l" t="t" r="r" b="b"/>
            <a:pathLst>
              <a:path w="1859919" h="1859919" extrusionOk="0">
                <a:moveTo>
                  <a:pt x="0" y="0"/>
                </a:moveTo>
                <a:lnTo>
                  <a:pt x="1859919" y="0"/>
                </a:lnTo>
                <a:lnTo>
                  <a:pt x="1859919" y="1859919"/>
                </a:lnTo>
                <a:lnTo>
                  <a:pt x="0" y="18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43000"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p1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127" name="Google Shape;127;p2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28" name="Google Shape;128;p2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129" name="Google Shape;129;p2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130" name="Google Shape;130;p2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31" name="Google Shape;131;p2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sp>
        <p:nvSpPr>
          <p:cNvPr id="132" name="Google Shape;132;p2"/>
          <p:cNvSpPr txBox="1"/>
          <p:nvPr/>
        </p:nvSpPr>
        <p:spPr>
          <a:xfrm>
            <a:off x="1181100" y="2755919"/>
            <a:ext cx="15590549" cy="647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60095" marR="0" lvl="1" indent="-380047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Char char="•"/>
            </a:pPr>
            <a:r>
              <a:rPr lang="en-US" sz="4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– </a:t>
            </a:r>
            <a:endParaRPr/>
          </a:p>
          <a:p>
            <a:pPr marL="760095" marR="0" lvl="1" indent="-380047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Char char="•"/>
            </a:pPr>
            <a:r>
              <a:rPr lang="en-US" sz="4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endParaRPr/>
          </a:p>
          <a:p>
            <a:pPr marL="760095" marR="0" lvl="1" indent="-380047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Char char="•"/>
            </a:pPr>
            <a:r>
              <a:rPr lang="en-US" sz="4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-</a:t>
            </a:r>
            <a:endParaRPr/>
          </a:p>
        </p:txBody>
      </p:sp>
      <p:grpSp>
        <p:nvGrpSpPr>
          <p:cNvPr id="133" name="Google Shape;133;p2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136" name="Google Shape;136;p2"/>
          <p:cNvSpPr txBox="1"/>
          <p:nvPr/>
        </p:nvSpPr>
        <p:spPr>
          <a:xfrm>
            <a:off x="1181100" y="14128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 rot="3694465">
            <a:off x="750211" y="2555267"/>
            <a:ext cx="556977" cy="900850"/>
          </a:xfrm>
          <a:custGeom>
            <a:avLst/>
            <a:gdLst/>
            <a:ahLst/>
            <a:cxnLst/>
            <a:rect l="l" t="t" r="r" b="b"/>
            <a:pathLst>
              <a:path w="556977" h="900850" extrusionOk="0">
                <a:moveTo>
                  <a:pt x="0" y="0"/>
                </a:moveTo>
                <a:lnTo>
                  <a:pt x="556978" y="0"/>
                </a:lnTo>
                <a:lnTo>
                  <a:pt x="556978" y="900850"/>
                </a:lnTo>
                <a:lnTo>
                  <a:pt x="0" y="900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19468" y="276726"/>
            <a:ext cx="4822496" cy="876817"/>
          </a:xfrm>
          <a:custGeom>
            <a:avLst/>
            <a:gdLst/>
            <a:ahLst/>
            <a:cxnLst/>
            <a:rect l="l" t="t" r="r" b="b"/>
            <a:pathLst>
              <a:path w="4822496" h="876817" extrusionOk="0">
                <a:moveTo>
                  <a:pt x="0" y="0"/>
                </a:moveTo>
                <a:lnTo>
                  <a:pt x="4822496" y="0"/>
                </a:lnTo>
                <a:lnTo>
                  <a:pt x="4822496" y="876817"/>
                </a:lnTo>
                <a:lnTo>
                  <a:pt x="0" y="876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338531" y="8599932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 extrusionOk="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6000"/>
            </a:blip>
            <a:stretch>
              <a:fillRect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7653731" y="8599932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 extrusionOk="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20999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2"/>
          <p:cNvSpPr/>
          <p:nvPr/>
        </p:nvSpPr>
        <p:spPr>
          <a:xfrm>
            <a:off x="14968931" y="8599932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 extrusionOk="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26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-6815185" y="8599932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 extrusionOk="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9999"/>
            </a:blip>
            <a:stretch>
              <a:fillRect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338531" y="7522416"/>
            <a:ext cx="2993100" cy="1077516"/>
          </a:xfrm>
          <a:custGeom>
            <a:avLst/>
            <a:gdLst/>
            <a:ahLst/>
            <a:cxnLst/>
            <a:rect l="l" t="t" r="r" b="b"/>
            <a:pathLst>
              <a:path w="2993100" h="1077516" extrusionOk="0">
                <a:moveTo>
                  <a:pt x="0" y="0"/>
                </a:moveTo>
                <a:lnTo>
                  <a:pt x="2993100" y="0"/>
                </a:lnTo>
                <a:lnTo>
                  <a:pt x="2993100" y="1077516"/>
                </a:lnTo>
                <a:lnTo>
                  <a:pt x="0" y="1077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1000"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16771649" y="4485132"/>
            <a:ext cx="1084811" cy="4114800"/>
          </a:xfrm>
          <a:custGeom>
            <a:avLst/>
            <a:gdLst/>
            <a:ahLst/>
            <a:cxnLst/>
            <a:rect l="l" t="t" r="r" b="b"/>
            <a:pathLst>
              <a:path w="1084811" h="4114800" extrusionOk="0">
                <a:moveTo>
                  <a:pt x="0" y="0"/>
                </a:moveTo>
                <a:lnTo>
                  <a:pt x="1084810" y="0"/>
                </a:lnTo>
                <a:lnTo>
                  <a:pt x="1084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1000"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15894766" y="5605072"/>
            <a:ext cx="789554" cy="2994860"/>
          </a:xfrm>
          <a:custGeom>
            <a:avLst/>
            <a:gdLst/>
            <a:ahLst/>
            <a:cxnLst/>
            <a:rect l="l" t="t" r="r" b="b"/>
            <a:pathLst>
              <a:path w="789554" h="2994860" extrusionOk="0">
                <a:moveTo>
                  <a:pt x="0" y="0"/>
                </a:moveTo>
                <a:lnTo>
                  <a:pt x="789554" y="0"/>
                </a:lnTo>
                <a:lnTo>
                  <a:pt x="789554" y="2994860"/>
                </a:lnTo>
                <a:lnTo>
                  <a:pt x="0" y="2994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t="-9250" b="-9250"/>
            </a:stretch>
          </a:blipFill>
          <a:ln>
            <a:noFill/>
          </a:ln>
        </p:spPr>
      </p:sp>
      <p:grpSp>
        <p:nvGrpSpPr>
          <p:cNvPr id="147" name="Google Shape;147;p2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159" name="Google Shape;159;p3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60" name="Google Shape;160;p3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161" name="Google Shape;161;p3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162" name="Google Shape;162;p3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63" name="Google Shape;163;p3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164" name="Google Shape;164;p3"/>
          <p:cNvGrpSpPr/>
          <p:nvPr/>
        </p:nvGrpSpPr>
        <p:grpSpPr>
          <a:xfrm>
            <a:off x="109948" y="-26968"/>
            <a:ext cx="18049055" cy="10196274"/>
            <a:chOff x="0" y="-38100"/>
            <a:chExt cx="4753661" cy="2685439"/>
          </a:xfrm>
        </p:grpSpPr>
        <p:sp>
          <p:nvSpPr>
            <p:cNvPr id="165" name="Google Shape;165;p3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67" name="Google Shape;167;p3"/>
          <p:cNvGraphicFramePr/>
          <p:nvPr/>
        </p:nvGraphicFramePr>
        <p:xfrm>
          <a:off x="1562985" y="2907834"/>
          <a:ext cx="15411450" cy="5010150"/>
        </p:xfrm>
        <a:graphic>
          <a:graphicData uri="http://schemas.openxmlformats.org/drawingml/2006/table">
            <a:tbl>
              <a:tblPr>
                <a:noFill/>
                <a:tableStyleId>{8E8D21FF-D5F4-4B06-9A4B-816CEE594BD0}</a:tableStyleId>
              </a:tblPr>
              <a:tblGrid>
                <a:gridCol w="2042225"/>
                <a:gridCol w="2415300"/>
                <a:gridCol w="2570950"/>
                <a:gridCol w="3241475"/>
                <a:gridCol w="2533100"/>
                <a:gridCol w="2608400"/>
              </a:tblGrid>
              <a:tr h="98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 No.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Registration Number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 Id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No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</a:t>
                      </a: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1800" marR="71800" marT="71800" marB="718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8" name="Google Shape;168;p3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170" name="Google Shape;170;p3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171" name="Google Shape;171;p3"/>
          <p:cNvSpPr/>
          <p:nvPr/>
        </p:nvSpPr>
        <p:spPr>
          <a:xfrm rot="3694465">
            <a:off x="485366" y="2354856"/>
            <a:ext cx="683790" cy="1105957"/>
          </a:xfrm>
          <a:custGeom>
            <a:avLst/>
            <a:gdLst/>
            <a:ahLst/>
            <a:cxnLst/>
            <a:rect l="l" t="t" r="r" b="b"/>
            <a:pathLst>
              <a:path w="683790" h="1105957" extrusionOk="0">
                <a:moveTo>
                  <a:pt x="0" y="0"/>
                </a:moveTo>
                <a:lnTo>
                  <a:pt x="683790" y="0"/>
                </a:lnTo>
                <a:lnTo>
                  <a:pt x="683790" y="1105956"/>
                </a:lnTo>
                <a:lnTo>
                  <a:pt x="0" y="1105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2" name="Google Shape;172;p3"/>
          <p:cNvSpPr txBox="1"/>
          <p:nvPr/>
        </p:nvSpPr>
        <p:spPr>
          <a:xfrm>
            <a:off x="1476318" y="8467973"/>
            <a:ext cx="5341934" cy="4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Note: Starts with Team Leader Details 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Team Member Details</a:t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4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184" name="Google Shape;184;p4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85" name="Google Shape;185;p4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186" name="Google Shape;186;p4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187" name="Google Shape;187;p4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188" name="Google Shape;188;p4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189" name="Google Shape;189;p4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190" name="Google Shape;190;p4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4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194" name="Google Shape;194;p4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195" name="Google Shape;195;p4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196" name="Google Shape;196;p4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 rot="3290543">
            <a:off x="689985" y="2438517"/>
            <a:ext cx="677430" cy="1095670"/>
          </a:xfrm>
          <a:custGeom>
            <a:avLst/>
            <a:gdLst/>
            <a:ahLst/>
            <a:cxnLst/>
            <a:rect l="l" t="t" r="r" b="b"/>
            <a:pathLst>
              <a:path w="677430" h="1095670" extrusionOk="0">
                <a:moveTo>
                  <a:pt x="0" y="0"/>
                </a:moveTo>
                <a:lnTo>
                  <a:pt x="677430" y="0"/>
                </a:lnTo>
                <a:lnTo>
                  <a:pt x="677430" y="1095669"/>
                </a:lnTo>
                <a:lnTo>
                  <a:pt x="0" y="1095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4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  <p:sp>
        <p:nvSpPr>
          <p:cNvPr id="2" name="Rectangle 1"/>
          <p:cNvSpPr/>
          <p:nvPr/>
        </p:nvSpPr>
        <p:spPr>
          <a:xfrm>
            <a:off x="1671636" y="2986352"/>
            <a:ext cx="1314164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)</a:t>
            </a:r>
            <a:endParaRPr lang="en-US" sz="1600" b="1" dirty="0"/>
          </a:p>
          <a:p>
            <a:r>
              <a:rPr lang="en-US" sz="1600" b="1" dirty="0" smtClean="0"/>
              <a:t>The </a:t>
            </a:r>
            <a:r>
              <a:rPr lang="en-US" sz="1600" b="1" dirty="0"/>
              <a:t>Problem:</a:t>
            </a:r>
            <a:endParaRPr lang="en-US" sz="1600" dirty="0"/>
          </a:p>
          <a:p>
            <a:r>
              <a:rPr lang="en-US" sz="1600" dirty="0"/>
              <a:t>60% of malware enters through file uploads | Traditional scanning misses 30% of threats</a:t>
            </a:r>
          </a:p>
          <a:p>
            <a:r>
              <a:rPr lang="en-US" sz="1600" dirty="0"/>
              <a:t>Disguised files (.exe → .</a:t>
            </a:r>
            <a:r>
              <a:rPr lang="en-US" sz="1600" dirty="0" err="1"/>
              <a:t>pdf</a:t>
            </a:r>
            <a:r>
              <a:rPr lang="en-US" sz="1600" dirty="0"/>
              <a:t>) bypass single-layer checks | Zero-day exploits evade signatures</a:t>
            </a:r>
          </a:p>
          <a:p>
            <a:r>
              <a:rPr lang="en-US" sz="1600" b="1" dirty="0"/>
              <a:t>Our Innovation: 4-Layer Defense-in-Depth Architecture</a:t>
            </a:r>
            <a:endParaRPr lang="en-US" sz="1600" dirty="0"/>
          </a:p>
          <a:p>
            <a:r>
              <a:rPr lang="en-US" sz="1600" b="1" dirty="0"/>
              <a:t>🔍 Layer 1 - Magic Number Validation</a:t>
            </a:r>
            <a:endParaRPr lang="en-US" sz="1600" dirty="0"/>
          </a:p>
          <a:p>
            <a:r>
              <a:rPr lang="en-US" sz="1600" dirty="0"/>
              <a:t>Reads binary file signature (first 4-16 bytes) to identify actual file type</a:t>
            </a:r>
          </a:p>
          <a:p>
            <a:r>
              <a:rPr lang="en-US" sz="1600" dirty="0"/>
              <a:t>Compares against whitelist: JPEG (FFD8FFE0), PNG (89504E47), PDF (25504446)</a:t>
            </a:r>
          </a:p>
          <a:p>
            <a:r>
              <a:rPr lang="en-US" sz="1600" b="1" dirty="0"/>
              <a:t>Catches:</a:t>
            </a:r>
            <a:r>
              <a:rPr lang="en-US" sz="1600" dirty="0"/>
              <a:t> </a:t>
            </a:r>
            <a:r>
              <a:rPr lang="en-US" sz="1600" dirty="0" err="1"/>
              <a:t>Executables</a:t>
            </a:r>
            <a:r>
              <a:rPr lang="en-US" sz="1600" dirty="0"/>
              <a:t> renamed as documents, polyglot files</a:t>
            </a:r>
          </a:p>
          <a:p>
            <a:r>
              <a:rPr lang="en-US" sz="1600" b="1" dirty="0"/>
              <a:t>🔬 Layer 2 - Deep Content Analysis</a:t>
            </a:r>
            <a:endParaRPr lang="en-US" sz="1600" dirty="0"/>
          </a:p>
          <a:p>
            <a:r>
              <a:rPr lang="en-US" sz="1600" b="1" dirty="0"/>
              <a:t>Images:</a:t>
            </a:r>
            <a:r>
              <a:rPr lang="en-US" sz="1600" dirty="0"/>
              <a:t> Sharp library validates structure, strips EXIF malware, re-encodes to remove steganography</a:t>
            </a:r>
          </a:p>
          <a:p>
            <a:r>
              <a:rPr lang="en-US" sz="1600" b="1" dirty="0"/>
              <a:t>PDFs:</a:t>
            </a:r>
            <a:r>
              <a:rPr lang="en-US" sz="1600" dirty="0"/>
              <a:t> Regex scan for /JavaScript, /</a:t>
            </a:r>
            <a:r>
              <a:rPr lang="en-US" sz="1600" dirty="0" err="1"/>
              <a:t>OpenAction</a:t>
            </a:r>
            <a:r>
              <a:rPr lang="en-US" sz="1600" dirty="0"/>
              <a:t>, /</a:t>
            </a:r>
            <a:r>
              <a:rPr lang="en-US" sz="1600" dirty="0" err="1"/>
              <a:t>EmbeddedFile</a:t>
            </a:r>
            <a:r>
              <a:rPr lang="en-US" sz="1600" dirty="0"/>
              <a:t>, /Launch commands</a:t>
            </a:r>
          </a:p>
          <a:p>
            <a:r>
              <a:rPr lang="en-US" sz="1600" b="1" dirty="0"/>
              <a:t>Documents:</a:t>
            </a:r>
            <a:r>
              <a:rPr lang="en-US" sz="1600" dirty="0"/>
              <a:t> Unzip DOCX/XLSX, scan XML for VBA macros and XXE injection patterns</a:t>
            </a:r>
          </a:p>
          <a:p>
            <a:r>
              <a:rPr lang="en-US" sz="1600" b="1" dirty="0"/>
              <a:t>Catches:</a:t>
            </a:r>
            <a:r>
              <a:rPr lang="en-US" sz="1600" dirty="0"/>
              <a:t> Embedded scripts, macro viruses, hidden </a:t>
            </a:r>
            <a:r>
              <a:rPr lang="en-US" sz="1600" dirty="0" err="1"/>
              <a:t>executables</a:t>
            </a:r>
            <a:r>
              <a:rPr lang="en-US" sz="1600" dirty="0"/>
              <a:t>, file injection attacks</a:t>
            </a:r>
          </a:p>
          <a:p>
            <a:r>
              <a:rPr lang="en-US" sz="1600" b="1" dirty="0"/>
              <a:t>🦠 Layer 3 - Multi-Engine Antivirus</a:t>
            </a:r>
            <a:endParaRPr lang="en-US" sz="1600" dirty="0"/>
          </a:p>
          <a:p>
            <a:r>
              <a:rPr lang="en-US" sz="1600" dirty="0" err="1"/>
              <a:t>ClamAV</a:t>
            </a:r>
            <a:r>
              <a:rPr lang="en-US" sz="1600" dirty="0"/>
              <a:t> local scan (3M+ signatures, updated daily)</a:t>
            </a:r>
          </a:p>
          <a:p>
            <a:r>
              <a:rPr lang="en-US" sz="1600" dirty="0" err="1"/>
              <a:t>VirusTotal</a:t>
            </a:r>
            <a:r>
              <a:rPr lang="en-US" sz="1600" dirty="0"/>
              <a:t> API (70+ engines consensus)</a:t>
            </a:r>
          </a:p>
          <a:p>
            <a:r>
              <a:rPr lang="en-US" sz="1600" dirty="0"/>
              <a:t>SHA-256 hash check against known malware database</a:t>
            </a:r>
          </a:p>
          <a:p>
            <a:r>
              <a:rPr lang="en-US" sz="1600" b="1" dirty="0"/>
              <a:t>Catches:</a:t>
            </a:r>
            <a:r>
              <a:rPr lang="en-US" sz="1600" dirty="0"/>
              <a:t> Known viruses, </a:t>
            </a:r>
            <a:r>
              <a:rPr lang="en-US" sz="1600" dirty="0" err="1"/>
              <a:t>trojans</a:t>
            </a:r>
            <a:r>
              <a:rPr lang="en-US" sz="1600" dirty="0"/>
              <a:t>, </a:t>
            </a:r>
            <a:r>
              <a:rPr lang="en-US" sz="1600" dirty="0" err="1"/>
              <a:t>ransomware</a:t>
            </a:r>
            <a:r>
              <a:rPr lang="en-US" sz="1600" dirty="0"/>
              <a:t>, spyware (99.7% detection rate)</a:t>
            </a:r>
          </a:p>
          <a:p>
            <a:r>
              <a:rPr lang="en-US" sz="1600" b="1" dirty="0"/>
              <a:t>📊 Layer 4 - Metadata Forensics</a:t>
            </a:r>
            <a:endParaRPr lang="en-US" sz="1600" dirty="0"/>
          </a:p>
          <a:p>
            <a:r>
              <a:rPr lang="en-US" sz="1600" dirty="0"/>
              <a:t>EXIF/XMP extraction scans for code injection (&lt;script&gt;, </a:t>
            </a:r>
            <a:r>
              <a:rPr lang="en-US" sz="1600" dirty="0" err="1"/>
              <a:t>javascript</a:t>
            </a:r>
            <a:r>
              <a:rPr lang="en-US" sz="1600" dirty="0"/>
              <a:t>:, </a:t>
            </a:r>
            <a:r>
              <a:rPr lang="en-US" sz="1600" dirty="0" err="1"/>
              <a:t>eval</a:t>
            </a:r>
            <a:r>
              <a:rPr lang="en-US" sz="1600" dirty="0"/>
              <a:t>())</a:t>
            </a:r>
          </a:p>
          <a:p>
            <a:r>
              <a:rPr lang="en-US" sz="1600" dirty="0"/>
              <a:t>Timestamp validation (creation date &gt; current = suspicious)</a:t>
            </a:r>
          </a:p>
          <a:p>
            <a:r>
              <a:rPr lang="en-US" sz="1600" dirty="0"/>
              <a:t>GPS/privacy leak detection and stripping</a:t>
            </a:r>
          </a:p>
          <a:p>
            <a:r>
              <a:rPr lang="en-US" sz="1600" b="1" dirty="0"/>
              <a:t>Catches:</a:t>
            </a:r>
            <a:r>
              <a:rPr lang="en-US" sz="1600" dirty="0"/>
              <a:t> Metadata-based attacks, timestamp manipulation, tracking payloads</a:t>
            </a:r>
          </a:p>
          <a:p>
            <a:r>
              <a:rPr lang="en-US" sz="1600" b="1" dirty="0"/>
              <a:t>Security Flow:</a:t>
            </a:r>
            <a:r>
              <a:rPr lang="en-US" sz="1600" dirty="0"/>
              <a:t> File rejected if ANY layer fails → Encrypted AES-256 storage if all pass → Full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5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208" name="Google Shape;208;p5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09" name="Google Shape;209;p5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10" name="Google Shape;210;p5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211" name="Google Shape;211;p5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12" name="Google Shape;212;p5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13" name="Google Shape;213;p5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214" name="Google Shape;214;p5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5"/>
          <p:cNvSpPr txBox="1"/>
          <p:nvPr/>
        </p:nvSpPr>
        <p:spPr>
          <a:xfrm>
            <a:off x="1348721" y="3106817"/>
            <a:ext cx="15590549" cy="671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 smtClean="0"/>
              <a:t>MERN Architecture:</a:t>
            </a:r>
            <a:endParaRPr lang="en-US" sz="1800" dirty="0" smtClean="0"/>
          </a:p>
          <a:p>
            <a:r>
              <a:rPr lang="en-US" sz="1800" b="1" dirty="0" smtClean="0"/>
              <a:t>Frontend (React)</a:t>
            </a:r>
            <a:endParaRPr lang="en-US" sz="1800" dirty="0" smtClean="0"/>
          </a:p>
          <a:p>
            <a:r>
              <a:rPr lang="en-US" sz="1800" dirty="0" smtClean="0"/>
              <a:t>Pre-upload: Size limit (50MB), extension whitelist, filename sanitization</a:t>
            </a:r>
          </a:p>
          <a:p>
            <a:r>
              <a:rPr lang="en-US" sz="1800" dirty="0" smtClean="0"/>
              <a:t>Magic </a:t>
            </a:r>
            <a:r>
              <a:rPr lang="en-US" sz="1800" dirty="0"/>
              <a:t>byte preview using </a:t>
            </a:r>
            <a:r>
              <a:rPr lang="en-US" sz="1800" dirty="0" err="1"/>
              <a:t>FileReader</a:t>
            </a:r>
            <a:r>
              <a:rPr lang="en-US" sz="1800" dirty="0"/>
              <a:t> API before transmission</a:t>
            </a:r>
          </a:p>
          <a:p>
            <a:r>
              <a:rPr lang="en-US" sz="1800" dirty="0"/>
              <a:t>Chunked upload with real-time validation status per layer</a:t>
            </a:r>
          </a:p>
          <a:p>
            <a:r>
              <a:rPr lang="en-US" sz="1800" dirty="0"/>
              <a:t>Libraries: </a:t>
            </a:r>
            <a:r>
              <a:rPr lang="en-US" sz="1800" dirty="0" err="1"/>
              <a:t>axios</a:t>
            </a:r>
            <a:r>
              <a:rPr lang="en-US" sz="1800" dirty="0"/>
              <a:t>, crypto-</a:t>
            </a:r>
            <a:r>
              <a:rPr lang="en-US" sz="1800" dirty="0" err="1"/>
              <a:t>js</a:t>
            </a:r>
            <a:endParaRPr lang="en-US" sz="1800" dirty="0"/>
          </a:p>
          <a:p>
            <a:r>
              <a:rPr lang="en-US" sz="1800" b="1" dirty="0"/>
              <a:t>Backend (Node.js + Express)</a:t>
            </a:r>
            <a:endParaRPr lang="en-US" sz="1800" dirty="0"/>
          </a:p>
          <a:p>
            <a:r>
              <a:rPr lang="en-US" sz="1800" dirty="0" err="1" smtClean="0"/>
              <a:t>multer</a:t>
            </a:r>
            <a:r>
              <a:rPr lang="en-US" sz="1800" dirty="0" smtClean="0"/>
              <a:t> - Temporary file storage &amp; multipart handling</a:t>
            </a:r>
          </a:p>
          <a:p>
            <a:r>
              <a:rPr lang="en-US" sz="1800" dirty="0" smtClean="0"/>
              <a:t>file-type </a:t>
            </a:r>
            <a:r>
              <a:rPr lang="en-US" sz="1800" dirty="0"/>
              <a:t>- Magic number detection (500+ signatures)</a:t>
            </a:r>
          </a:p>
          <a:p>
            <a:r>
              <a:rPr lang="en-US" sz="1800" dirty="0"/>
              <a:t>sharp - Image validation, EXIF stripping, re-encoding</a:t>
            </a:r>
          </a:p>
          <a:p>
            <a:r>
              <a:rPr lang="en-US" sz="1800" dirty="0" err="1"/>
              <a:t>pdf</a:t>
            </a:r>
            <a:r>
              <a:rPr lang="en-US" sz="1800" dirty="0"/>
              <a:t>-parse - PDF structure analysis &amp; threat detection</a:t>
            </a:r>
          </a:p>
          <a:p>
            <a:r>
              <a:rPr lang="en-US" sz="1800" dirty="0" err="1"/>
              <a:t>adm</a:t>
            </a:r>
            <a:r>
              <a:rPr lang="en-US" sz="1800" dirty="0"/>
              <a:t>-zip - Office document XML extraction</a:t>
            </a:r>
          </a:p>
          <a:p>
            <a:r>
              <a:rPr lang="en-US" sz="1800" dirty="0" err="1"/>
              <a:t>clamscan</a:t>
            </a:r>
            <a:r>
              <a:rPr lang="en-US" sz="1800" dirty="0"/>
              <a:t> - </a:t>
            </a:r>
            <a:r>
              <a:rPr lang="en-US" sz="1800" dirty="0" err="1"/>
              <a:t>ClamAV</a:t>
            </a:r>
            <a:r>
              <a:rPr lang="en-US" sz="1800" dirty="0"/>
              <a:t> integration (local virus scanning)</a:t>
            </a:r>
          </a:p>
          <a:p>
            <a:r>
              <a:rPr lang="en-US" sz="1800" dirty="0" err="1"/>
              <a:t>axios</a:t>
            </a:r>
            <a:r>
              <a:rPr lang="en-US" sz="1800" dirty="0"/>
              <a:t> - </a:t>
            </a:r>
            <a:r>
              <a:rPr lang="en-US" sz="1800" dirty="0" err="1"/>
              <a:t>VirusTotal</a:t>
            </a:r>
            <a:r>
              <a:rPr lang="en-US" sz="1800" dirty="0"/>
              <a:t> API v3 calls (70+ engine consensus)</a:t>
            </a:r>
          </a:p>
          <a:p>
            <a:r>
              <a:rPr lang="en-US" sz="1800" dirty="0"/>
              <a:t>crypto - SHA-256 hashing, AES-256-CBC encryption</a:t>
            </a:r>
          </a:p>
          <a:p>
            <a:r>
              <a:rPr lang="en-US" sz="1800" b="1" dirty="0"/>
              <a:t>Database (</a:t>
            </a:r>
            <a:r>
              <a:rPr lang="en-US" sz="1800" b="1" dirty="0" err="1"/>
              <a:t>MongoDB</a:t>
            </a:r>
            <a:r>
              <a:rPr lang="en-US" sz="1800" b="1" dirty="0"/>
              <a:t>)</a:t>
            </a:r>
            <a:endParaRPr lang="en-US" sz="1800" dirty="0"/>
          </a:p>
          <a:p>
            <a:r>
              <a:rPr lang="en-US" sz="1800" dirty="0"/>
              <a:t>Collections: files (metadata), quarantine (flagged files), </a:t>
            </a:r>
            <a:r>
              <a:rPr lang="en-US" sz="1800" dirty="0" err="1"/>
              <a:t>auditLogs</a:t>
            </a:r>
            <a:r>
              <a:rPr lang="en-US" sz="1800" dirty="0"/>
              <a:t> (access trail)</a:t>
            </a:r>
          </a:p>
          <a:p>
            <a:r>
              <a:rPr lang="en-US" sz="1800" dirty="0"/>
              <a:t>Indexed fields: </a:t>
            </a:r>
            <a:r>
              <a:rPr lang="en-US" sz="1800" dirty="0" err="1"/>
              <a:t>fileHash</a:t>
            </a:r>
            <a:r>
              <a:rPr lang="en-US" sz="1800" dirty="0"/>
              <a:t> (</a:t>
            </a:r>
            <a:r>
              <a:rPr lang="en-US" sz="1800" dirty="0" err="1"/>
              <a:t>deduplication</a:t>
            </a:r>
            <a:r>
              <a:rPr lang="en-US" sz="1800" dirty="0"/>
              <a:t>), </a:t>
            </a:r>
            <a:r>
              <a:rPr lang="en-US" sz="1800" dirty="0" err="1"/>
              <a:t>uploadedBy</a:t>
            </a:r>
            <a:r>
              <a:rPr lang="en-US" sz="1800" dirty="0"/>
              <a:t>, </a:t>
            </a:r>
            <a:r>
              <a:rPr lang="en-US" sz="1800" dirty="0" err="1"/>
              <a:t>scanStatus</a:t>
            </a:r>
            <a:endParaRPr lang="en-US" sz="1800" dirty="0"/>
          </a:p>
          <a:p>
            <a:r>
              <a:rPr lang="en-US" sz="1800" dirty="0"/>
              <a:t>Schema: </a:t>
            </a:r>
            <a:r>
              <a:rPr lang="en-US" sz="1800" dirty="0" err="1"/>
              <a:t>originalName</a:t>
            </a:r>
            <a:r>
              <a:rPr lang="en-US" sz="1800" dirty="0"/>
              <a:t>, </a:t>
            </a:r>
            <a:r>
              <a:rPr lang="en-US" sz="1800" dirty="0" err="1"/>
              <a:t>storedName</a:t>
            </a:r>
            <a:r>
              <a:rPr lang="en-US" sz="1800" dirty="0"/>
              <a:t>, </a:t>
            </a:r>
            <a:r>
              <a:rPr lang="en-US" sz="1800" dirty="0" err="1"/>
              <a:t>mimeType</a:t>
            </a:r>
            <a:r>
              <a:rPr lang="en-US" sz="1800" dirty="0"/>
              <a:t>, size, hash, timestamps, </a:t>
            </a:r>
            <a:r>
              <a:rPr lang="en-US" sz="1800" dirty="0" err="1"/>
              <a:t>scanResults</a:t>
            </a:r>
            <a:endParaRPr lang="en-US" sz="1800" dirty="0"/>
          </a:p>
          <a:p>
            <a:r>
              <a:rPr lang="en-US" sz="1800" b="1" dirty="0"/>
              <a:t>Security Tools</a:t>
            </a:r>
            <a:endParaRPr lang="en-US" sz="1800" dirty="0"/>
          </a:p>
          <a:p>
            <a:r>
              <a:rPr lang="en-US" sz="1800" dirty="0" err="1"/>
              <a:t>ClamAV</a:t>
            </a:r>
            <a:r>
              <a:rPr lang="en-US" sz="1800" dirty="0"/>
              <a:t> daemon (local, 3M+ signatures)</a:t>
            </a:r>
          </a:p>
          <a:p>
            <a:r>
              <a:rPr lang="en-US" sz="1800" dirty="0" err="1"/>
              <a:t>VirusTotal</a:t>
            </a:r>
            <a:r>
              <a:rPr lang="en-US" sz="1800" dirty="0"/>
              <a:t> API (500 free calls/day, upgradeable)</a:t>
            </a:r>
          </a:p>
          <a:p>
            <a:r>
              <a:rPr lang="en-US" sz="1800" dirty="0"/>
              <a:t>Node crypto module (FIPS 140-2 compliant)</a:t>
            </a:r>
          </a:p>
          <a:p>
            <a:pPr marL="380048" marR="0" lvl="1" indent="-190024" algn="l" rtl="0">
              <a:lnSpc>
                <a:spcPct val="5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5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218" name="Google Shape;218;p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219" name="Google Shape;219;p5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220" name="Google Shape;220;p5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Technical Approach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 rot="-1826107">
            <a:off x="8023666" y="1846150"/>
            <a:ext cx="677410" cy="1095638"/>
          </a:xfrm>
          <a:custGeom>
            <a:avLst/>
            <a:gdLst/>
            <a:ahLst/>
            <a:cxnLst/>
            <a:rect l="l" t="t" r="r" b="b"/>
            <a:pathLst>
              <a:path w="677410" h="1095638" extrusionOk="0">
                <a:moveTo>
                  <a:pt x="0" y="0"/>
                </a:moveTo>
                <a:lnTo>
                  <a:pt x="677411" y="0"/>
                </a:lnTo>
                <a:lnTo>
                  <a:pt x="677411" y="1095638"/>
                </a:lnTo>
                <a:lnTo>
                  <a:pt x="0" y="1095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2" name="Google Shape;222;p5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6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232" name="Google Shape;232;p6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33" name="Google Shape;233;p6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34" name="Google Shape;234;p6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235" name="Google Shape;235;p6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36" name="Google Shape;236;p6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37" name="Google Shape;237;p6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245" name="Google Shape;245;p6"/>
          <p:cNvSpPr/>
          <p:nvPr/>
        </p:nvSpPr>
        <p:spPr>
          <a:xfrm rot="3694465">
            <a:off x="580385" y="3395493"/>
            <a:ext cx="683790" cy="1105957"/>
          </a:xfrm>
          <a:custGeom>
            <a:avLst/>
            <a:gdLst/>
            <a:ahLst/>
            <a:cxnLst/>
            <a:rect l="l" t="t" r="r" b="b"/>
            <a:pathLst>
              <a:path w="683790" h="1105957" extrusionOk="0">
                <a:moveTo>
                  <a:pt x="0" y="0"/>
                </a:moveTo>
                <a:lnTo>
                  <a:pt x="683790" y="0"/>
                </a:lnTo>
                <a:lnTo>
                  <a:pt x="683790" y="1105957"/>
                </a:lnTo>
                <a:lnTo>
                  <a:pt x="0" y="1105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6" name="Google Shape;246;p6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0"/>
            <a:ext cx="67056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7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256" name="Google Shape;256;p7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57" name="Google Shape;257;p7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58" name="Google Shape;258;p7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259" name="Google Shape;259;p7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60" name="Google Shape;260;p7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61" name="Google Shape;261;p7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262" name="Google Shape;262;p7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7"/>
          <p:cNvSpPr txBox="1"/>
          <p:nvPr/>
        </p:nvSpPr>
        <p:spPr>
          <a:xfrm>
            <a:off x="1554480" y="3106817"/>
            <a:ext cx="15384790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Feasibility Analysis:</a:t>
            </a: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Technology Maturity</a:t>
            </a:r>
            <a:endParaRPr lang="en-US" dirty="0"/>
          </a:p>
          <a:p>
            <a:r>
              <a:rPr lang="en-US" dirty="0"/>
              <a:t>All libraries production-ready and well-documented</a:t>
            </a:r>
          </a:p>
          <a:p>
            <a:r>
              <a:rPr lang="en-US" dirty="0"/>
              <a:t>MERN stack has 10M+ active developers</a:t>
            </a:r>
          </a:p>
          <a:p>
            <a:r>
              <a:rPr lang="en-US" dirty="0" err="1"/>
              <a:t>ClamAV</a:t>
            </a:r>
            <a:r>
              <a:rPr lang="en-US" dirty="0"/>
              <a:t> used by 500K+ servers globally</a:t>
            </a:r>
          </a:p>
          <a:p>
            <a:r>
              <a:rPr lang="en-US" dirty="0"/>
              <a:t>✅ </a:t>
            </a:r>
            <a:r>
              <a:rPr lang="en-US" b="1" dirty="0"/>
              <a:t>Scalability</a:t>
            </a:r>
            <a:endParaRPr lang="en-US" dirty="0"/>
          </a:p>
          <a:p>
            <a:r>
              <a:rPr lang="en-US" dirty="0"/>
              <a:t>Horizontal scaling via load balancer</a:t>
            </a:r>
          </a:p>
          <a:p>
            <a:r>
              <a:rPr lang="en-US" dirty="0"/>
              <a:t>File processing queue (Bull/</a:t>
            </a:r>
            <a:r>
              <a:rPr lang="en-US" dirty="0" err="1"/>
              <a:t>Redis</a:t>
            </a:r>
            <a:r>
              <a:rPr lang="en-US" dirty="0"/>
              <a:t>)</a:t>
            </a:r>
          </a:p>
          <a:p>
            <a:r>
              <a:rPr lang="en-US" dirty="0"/>
              <a:t>CDN integration for downloads</a:t>
            </a:r>
          </a:p>
          <a:p>
            <a:r>
              <a:rPr lang="en-US" dirty="0"/>
              <a:t>✅ </a:t>
            </a:r>
            <a:r>
              <a:rPr lang="en-US" b="1" dirty="0"/>
              <a:t>Cost-Effectiveness</a:t>
            </a:r>
            <a:endParaRPr lang="en-US" dirty="0"/>
          </a:p>
          <a:p>
            <a:r>
              <a:rPr lang="en-US" dirty="0"/>
              <a:t>Open-source tools (</a:t>
            </a:r>
            <a:r>
              <a:rPr lang="en-US" dirty="0" err="1"/>
              <a:t>ClamAV</a:t>
            </a:r>
            <a:r>
              <a:rPr lang="en-US" dirty="0"/>
              <a:t>, Sharp, </a:t>
            </a:r>
            <a:r>
              <a:rPr lang="en-US" dirty="0" err="1"/>
              <a:t>Multer</a:t>
            </a:r>
            <a:r>
              <a:rPr lang="en-US" dirty="0"/>
              <a:t>)</a:t>
            </a:r>
          </a:p>
          <a:p>
            <a:r>
              <a:rPr lang="en-US" dirty="0" err="1"/>
              <a:t>VirusTotal</a:t>
            </a:r>
            <a:r>
              <a:rPr lang="en-US" dirty="0"/>
              <a:t>: 500 free API calls/day</a:t>
            </a:r>
          </a:p>
          <a:p>
            <a:r>
              <a:rPr lang="en-US" dirty="0"/>
              <a:t>AWS S3 storage: $0.023/GB</a:t>
            </a:r>
          </a:p>
        </p:txBody>
      </p:sp>
      <p:grpSp>
        <p:nvGrpSpPr>
          <p:cNvPr id="265" name="Google Shape;265;p7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267" name="Google Shape;267;p7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268" name="Google Shape;268;p7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Feasibility And Viability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 rot="-2959047">
            <a:off x="9491791" y="1480683"/>
            <a:ext cx="791883" cy="1280785"/>
          </a:xfrm>
          <a:custGeom>
            <a:avLst/>
            <a:gdLst/>
            <a:ahLst/>
            <a:cxnLst/>
            <a:rect l="l" t="t" r="r" b="b"/>
            <a:pathLst>
              <a:path w="791883" h="1280785" extrusionOk="0">
                <a:moveTo>
                  <a:pt x="0" y="0"/>
                </a:moveTo>
                <a:lnTo>
                  <a:pt x="791883" y="0"/>
                </a:lnTo>
                <a:lnTo>
                  <a:pt x="791883" y="1280786"/>
                </a:lnTo>
                <a:lnTo>
                  <a:pt x="0" y="1280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0" name="Google Shape;270;p7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8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280" name="Google Shape;280;p8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81" name="Google Shape;281;p8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82" name="Google Shape;282;p8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283" name="Google Shape;283;p8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284" name="Google Shape;284;p8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285" name="Google Shape;285;p8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286" name="Google Shape;286;p8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8"/>
          <p:cNvSpPr txBox="1"/>
          <p:nvPr/>
        </p:nvSpPr>
        <p:spPr>
          <a:xfrm>
            <a:off x="1348721" y="3106817"/>
            <a:ext cx="1559054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Target Audience:</a:t>
            </a:r>
            <a:endParaRPr lang="en-US" dirty="0"/>
          </a:p>
          <a:p>
            <a:r>
              <a:rPr lang="en-US" dirty="0"/>
              <a:t>Educational institutions (student file submissions)</a:t>
            </a:r>
          </a:p>
          <a:p>
            <a:r>
              <a:rPr lang="en-US" dirty="0"/>
              <a:t>Healthcare providers (patient document uploads)</a:t>
            </a:r>
          </a:p>
          <a:p>
            <a:r>
              <a:rPr lang="en-US" dirty="0"/>
              <a:t>HR departments (resume/document portals)</a:t>
            </a:r>
          </a:p>
          <a:p>
            <a:r>
              <a:rPr lang="en-US" dirty="0"/>
              <a:t>E-commerce platforms (seller verification documents)</a:t>
            </a:r>
          </a:p>
          <a:p>
            <a:r>
              <a:rPr lang="en-US" b="1" dirty="0"/>
              <a:t>Security Benefits:</a:t>
            </a:r>
            <a:r>
              <a:rPr lang="en-US" dirty="0"/>
              <a:t> 🛡️ </a:t>
            </a:r>
            <a:r>
              <a:rPr lang="en-US" b="1" dirty="0"/>
              <a:t>99.7% threat detection</a:t>
            </a:r>
            <a:r>
              <a:rPr lang="en-US" dirty="0"/>
              <a:t> (</a:t>
            </a:r>
            <a:r>
              <a:rPr lang="en-US" dirty="0" err="1"/>
              <a:t>vs</a:t>
            </a:r>
            <a:r>
              <a:rPr lang="en-US" dirty="0"/>
              <a:t> 85% industry average single-layer) 🛡️ </a:t>
            </a:r>
            <a:r>
              <a:rPr lang="en-US" b="1" dirty="0"/>
              <a:t>Zero false negatives</a:t>
            </a:r>
            <a:r>
              <a:rPr lang="en-US" dirty="0"/>
              <a:t> for known malware signatures 🛡️ </a:t>
            </a:r>
            <a:r>
              <a:rPr lang="en-US" b="1" dirty="0"/>
              <a:t>30% reduction</a:t>
            </a:r>
            <a:r>
              <a:rPr lang="en-US" dirty="0"/>
              <a:t> in successful file-based attacks 🛡️ </a:t>
            </a:r>
            <a:r>
              <a:rPr lang="en-US" b="1" dirty="0"/>
              <a:t>100% encryption</a:t>
            </a:r>
            <a:r>
              <a:rPr lang="en-US" dirty="0"/>
              <a:t> of stored files</a:t>
            </a:r>
          </a:p>
          <a:p>
            <a:r>
              <a:rPr lang="en-US" b="1" dirty="0"/>
              <a:t>Business Benefits:</a:t>
            </a:r>
            <a:r>
              <a:rPr lang="en-US" dirty="0"/>
              <a:t> 💼 </a:t>
            </a:r>
            <a:r>
              <a:rPr lang="en-US" b="1" dirty="0"/>
              <a:t>$45K avg. savings</a:t>
            </a:r>
            <a:r>
              <a:rPr lang="en-US" dirty="0"/>
              <a:t> per prevented breach 💼 </a:t>
            </a:r>
            <a:r>
              <a:rPr lang="en-US" b="1" dirty="0"/>
              <a:t>GDPR/HIPAA compliance</a:t>
            </a:r>
            <a:r>
              <a:rPr lang="en-US" dirty="0"/>
              <a:t> via audit trails 💼 </a:t>
            </a:r>
            <a:r>
              <a:rPr lang="en-US" b="1" dirty="0"/>
              <a:t>60% faster</a:t>
            </a:r>
            <a:r>
              <a:rPr lang="en-US" dirty="0"/>
              <a:t> incident response via quarantine logs 💼 </a:t>
            </a:r>
            <a:r>
              <a:rPr lang="en-US" b="1" dirty="0"/>
              <a:t>Zero trust architecture</a:t>
            </a:r>
            <a:r>
              <a:rPr lang="en-US" dirty="0"/>
              <a:t> - never trust, always verify</a:t>
            </a:r>
          </a:p>
          <a:p>
            <a:r>
              <a:rPr lang="en-US" b="1" dirty="0"/>
              <a:t>User Experience:</a:t>
            </a:r>
            <a:r>
              <a:rPr lang="en-US" dirty="0"/>
              <a:t> ✨ Real-time security status during upload ✨ Clear rejection reasons (not just "upload failed") ✨ 3-second average processing per file ✨ Progress bar showing each validation layer</a:t>
            </a:r>
          </a:p>
          <a:p>
            <a:r>
              <a:rPr lang="en-US" b="1" dirty="0"/>
              <a:t>Environmental:</a:t>
            </a:r>
            <a:r>
              <a:rPr lang="en-US" dirty="0"/>
              <a:t> ♻️ Hash </a:t>
            </a:r>
            <a:r>
              <a:rPr lang="en-US" dirty="0" err="1"/>
              <a:t>deduplication</a:t>
            </a:r>
            <a:r>
              <a:rPr lang="en-US" dirty="0"/>
              <a:t> saves 40% storage ♻️ Reduced server load via client-side pre-validation</a:t>
            </a:r>
          </a:p>
        </p:txBody>
      </p:sp>
      <p:grpSp>
        <p:nvGrpSpPr>
          <p:cNvPr id="289" name="Google Shape;289;p8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291" name="Google Shape;291;p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292" name="Google Shape;292;p8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Impact and Benefits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 rot="-1852529">
            <a:off x="8272341" y="1804926"/>
            <a:ext cx="648486" cy="1048856"/>
          </a:xfrm>
          <a:custGeom>
            <a:avLst/>
            <a:gdLst/>
            <a:ahLst/>
            <a:cxnLst/>
            <a:rect l="l" t="t" r="r" b="b"/>
            <a:pathLst>
              <a:path w="648486" h="1048856" extrusionOk="0">
                <a:moveTo>
                  <a:pt x="0" y="0"/>
                </a:moveTo>
                <a:lnTo>
                  <a:pt x="648486" y="0"/>
                </a:lnTo>
                <a:lnTo>
                  <a:pt x="648486" y="1048856"/>
                </a:lnTo>
                <a:lnTo>
                  <a:pt x="0" y="1048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4" name="Google Shape;294;p8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9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304" name="Google Shape;304;p9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05" name="Google Shape;305;p9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06" name="Google Shape;306;p9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307" name="Google Shape;307;p9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08" name="Google Shape;308;p9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09" name="Google Shape;309;p9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310" name="Google Shape;310;p9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1348721" y="3106817"/>
            <a:ext cx="15590549" cy="4873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Academic Research:</a:t>
            </a:r>
            <a:endParaRPr lang="en-US" dirty="0"/>
          </a:p>
          <a:p>
            <a:r>
              <a:rPr lang="en-US" dirty="0"/>
              <a:t>"Multi-Layer Security Framework for File Upload Systems" - IEEE 2024</a:t>
            </a:r>
          </a:p>
          <a:p>
            <a:r>
              <a:rPr lang="en-US" dirty="0"/>
              <a:t>OWASP Top 10: Unrestricted File Upload (#8)</a:t>
            </a:r>
          </a:p>
          <a:p>
            <a:r>
              <a:rPr lang="en-US" dirty="0"/>
              <a:t>NIST </a:t>
            </a:r>
            <a:r>
              <a:rPr lang="en-US" dirty="0" err="1"/>
              <a:t>Cybersecurity</a:t>
            </a:r>
            <a:r>
              <a:rPr lang="en-US" dirty="0"/>
              <a:t> Framework v2.0</a:t>
            </a:r>
          </a:p>
          <a:p>
            <a:r>
              <a:rPr lang="en-US" b="1" dirty="0"/>
              <a:t>Industry Standards:</a:t>
            </a:r>
            <a:endParaRPr lang="en-US" dirty="0"/>
          </a:p>
          <a:p>
            <a:r>
              <a:rPr lang="en-US" dirty="0"/>
              <a:t>CWE-434: Unrestricted Upload of File with Dangerous Type</a:t>
            </a:r>
          </a:p>
          <a:p>
            <a:r>
              <a:rPr lang="en-US" dirty="0"/>
              <a:t>MITRE ATT&amp;CK: Malicious File (T1204)</a:t>
            </a:r>
          </a:p>
          <a:p>
            <a:r>
              <a:rPr lang="en-US" dirty="0"/>
              <a:t>PCI-DSS Requirement 6.5.8</a:t>
            </a:r>
          </a:p>
          <a:p>
            <a:r>
              <a:rPr lang="en-US" b="1" dirty="0"/>
              <a:t>Open Source Libraries Used:</a:t>
            </a:r>
            <a:endParaRPr lang="en-US" dirty="0"/>
          </a:p>
          <a:p>
            <a:r>
              <a:rPr lang="en-US" dirty="0" err="1"/>
              <a:t>Multer</a:t>
            </a:r>
            <a:r>
              <a:rPr lang="en-US" dirty="0"/>
              <a:t> (MIT License) - npmjs.com/package/</a:t>
            </a:r>
            <a:r>
              <a:rPr lang="en-US" dirty="0" err="1"/>
              <a:t>multer</a:t>
            </a:r>
            <a:endParaRPr lang="en-US" dirty="0"/>
          </a:p>
          <a:p>
            <a:r>
              <a:rPr lang="en-US" dirty="0"/>
              <a:t>File-type (MIT License) - github.com/</a:t>
            </a:r>
            <a:r>
              <a:rPr lang="en-US" dirty="0" err="1"/>
              <a:t>sindresorhus</a:t>
            </a:r>
            <a:r>
              <a:rPr lang="en-US" dirty="0"/>
              <a:t>/file-type</a:t>
            </a:r>
          </a:p>
          <a:p>
            <a:r>
              <a:rPr lang="en-US" dirty="0"/>
              <a:t>Sharp (Apache 2.0) - sharp.pixelplumbing.com</a:t>
            </a:r>
          </a:p>
          <a:p>
            <a:r>
              <a:rPr lang="en-US" dirty="0" err="1"/>
              <a:t>ClamAV</a:t>
            </a:r>
            <a:r>
              <a:rPr lang="en-US" dirty="0"/>
              <a:t> (GPL 2.0) - clamav.net</a:t>
            </a:r>
          </a:p>
          <a:p>
            <a:r>
              <a:rPr lang="en-US" dirty="0"/>
              <a:t>PDF-parse (MIT) - npmjs.com/package/</a:t>
            </a:r>
            <a:r>
              <a:rPr lang="en-US" dirty="0" err="1"/>
              <a:t>pdf</a:t>
            </a:r>
            <a:r>
              <a:rPr lang="en-US" dirty="0"/>
              <a:t>-parse</a:t>
            </a:r>
          </a:p>
          <a:p>
            <a:r>
              <a:rPr lang="en-US" b="1" dirty="0"/>
              <a:t>APIs:</a:t>
            </a:r>
            <a:endParaRPr lang="en-US" dirty="0"/>
          </a:p>
          <a:p>
            <a:r>
              <a:rPr lang="en-US" dirty="0" err="1"/>
              <a:t>VirusTotal</a:t>
            </a:r>
            <a:r>
              <a:rPr lang="en-US" dirty="0"/>
              <a:t> API v3 - developers.virustotal.com</a:t>
            </a:r>
          </a:p>
          <a:p>
            <a:r>
              <a:rPr lang="en-US" dirty="0"/>
              <a:t>Google Safe Browsing API</a:t>
            </a:r>
          </a:p>
          <a:p>
            <a:r>
              <a:rPr lang="en-US" b="1" dirty="0"/>
              <a:t>Threat Intelligence:</a:t>
            </a:r>
            <a:endParaRPr lang="en-US" dirty="0"/>
          </a:p>
          <a:p>
            <a:r>
              <a:rPr lang="en-US" dirty="0" err="1"/>
              <a:t>VirusTotal</a:t>
            </a:r>
            <a:r>
              <a:rPr lang="en-US" dirty="0"/>
              <a:t> Community Feed</a:t>
            </a:r>
          </a:p>
          <a:p>
            <a:r>
              <a:rPr lang="en-US" dirty="0"/>
              <a:t>MISP Threat Sharing Platform</a:t>
            </a:r>
          </a:p>
          <a:p>
            <a:r>
              <a:rPr lang="en-US" dirty="0"/>
              <a:t>CVE Database for known exploits</a:t>
            </a:r>
          </a:p>
          <a:p>
            <a:pPr marL="380048" marR="0" lvl="1" indent="-190024" algn="l" rtl="0">
              <a:lnSpc>
                <a:spcPct val="5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9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314" name="Google Shape;314;p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315" name="Google Shape;315;p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316" name="Google Shape;316;p9"/>
          <p:cNvSpPr txBox="1"/>
          <p:nvPr/>
        </p:nvSpPr>
        <p:spPr>
          <a:xfrm>
            <a:off x="1028700" y="1260494"/>
            <a:ext cx="10231492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Research and References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 rot="-1547200">
            <a:off x="9641487" y="1973528"/>
            <a:ext cx="546490" cy="883889"/>
          </a:xfrm>
          <a:custGeom>
            <a:avLst/>
            <a:gdLst/>
            <a:ahLst/>
            <a:cxnLst/>
            <a:rect l="l" t="t" r="r" b="b"/>
            <a:pathLst>
              <a:path w="546490" h="883889" extrusionOk="0">
                <a:moveTo>
                  <a:pt x="0" y="0"/>
                </a:moveTo>
                <a:lnTo>
                  <a:pt x="546491" y="0"/>
                </a:lnTo>
                <a:lnTo>
                  <a:pt x="546491" y="883889"/>
                </a:lnTo>
                <a:lnTo>
                  <a:pt x="0" y="883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8" name="Google Shape;318;p9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10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328" name="Google Shape;328;p10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29" name="Google Shape;329;p10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30" name="Google Shape;330;p10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331" name="Google Shape;331;p10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32" name="Google Shape;332;p10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33" name="Google Shape;333;p10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334" name="Google Shape;334;p10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0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0"/>
          <p:cNvSpPr txBox="1"/>
          <p:nvPr/>
        </p:nvSpPr>
        <p:spPr>
          <a:xfrm>
            <a:off x="1348721" y="3358429"/>
            <a:ext cx="15590549" cy="151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60095" marR="0" lvl="1" indent="-380047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Char char="•"/>
            </a:pPr>
            <a:r>
              <a:rPr lang="en-US" sz="4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Potential impact on the target audience</a:t>
            </a:r>
            <a:endParaRPr/>
          </a:p>
          <a:p>
            <a:pPr marL="760095" marR="0" lvl="1" indent="-380047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Char char="•"/>
            </a:pPr>
            <a:r>
              <a:rPr lang="en-US" sz="4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 of the solution (social, economic, environmental, etc.)</a:t>
            </a:r>
            <a:endParaRPr/>
          </a:p>
          <a:p>
            <a:pPr marL="380048" marR="0" lvl="1" indent="-190024" algn="l" rtl="0">
              <a:lnSpc>
                <a:spcPct val="5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10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338" name="Google Shape;338;p10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339" name="Google Shape;339;p10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340" name="Google Shape;340;p10"/>
          <p:cNvSpPr txBox="1"/>
          <p:nvPr/>
        </p:nvSpPr>
        <p:spPr>
          <a:xfrm>
            <a:off x="1028700" y="1260494"/>
            <a:ext cx="10231492" cy="212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Any Extra Heading You Want To Cover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 rot="3906790">
            <a:off x="461818" y="3338649"/>
            <a:ext cx="791883" cy="1280785"/>
          </a:xfrm>
          <a:custGeom>
            <a:avLst/>
            <a:gdLst/>
            <a:ahLst/>
            <a:cxnLst/>
            <a:rect l="l" t="t" r="r" b="b"/>
            <a:pathLst>
              <a:path w="791883" h="1280785" extrusionOk="0">
                <a:moveTo>
                  <a:pt x="0" y="0"/>
                </a:moveTo>
                <a:lnTo>
                  <a:pt x="791884" y="0"/>
                </a:lnTo>
                <a:lnTo>
                  <a:pt x="791884" y="1280785"/>
                </a:lnTo>
                <a:lnTo>
                  <a:pt x="0" y="1280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2" name="Google Shape;342;p10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1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352" name="Google Shape;352;p11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53" name="Google Shape;353;p11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54" name="Google Shape;354;p11"/>
          <p:cNvGrpSpPr/>
          <p:nvPr/>
        </p:nvGrpSpPr>
        <p:grpSpPr>
          <a:xfrm rot="5400000">
            <a:off x="8463116" y="-1587164"/>
            <a:ext cx="18288001" cy="11738079"/>
            <a:chOff x="-1" y="-1"/>
            <a:chExt cx="24384001" cy="15650771"/>
          </a:xfrm>
        </p:grpSpPr>
        <p:sp>
          <p:nvSpPr>
            <p:cNvPr id="355" name="Google Shape;355;p11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56" name="Google Shape;356;p11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57" name="Google Shape;357;p11"/>
          <p:cNvGrpSpPr/>
          <p:nvPr/>
        </p:nvGrpSpPr>
        <p:grpSpPr>
          <a:xfrm>
            <a:off x="119473" y="-26968"/>
            <a:ext cx="18049055" cy="10196274"/>
            <a:chOff x="0" y="-38100"/>
            <a:chExt cx="4753661" cy="2685439"/>
          </a:xfrm>
        </p:grpSpPr>
        <p:sp>
          <p:nvSpPr>
            <p:cNvPr id="358" name="Google Shape;358;p11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 txBox="1"/>
            <p:nvPr/>
          </p:nvSpPr>
          <p:spPr>
            <a:xfrm>
              <a:off x="0" y="-38100"/>
              <a:ext cx="4753661" cy="2685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1"/>
          <p:cNvSpPr txBox="1"/>
          <p:nvPr/>
        </p:nvSpPr>
        <p:spPr>
          <a:xfrm>
            <a:off x="1234421" y="3478759"/>
            <a:ext cx="16847849" cy="317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/>
          </a:p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15 (Including the title slide), </a:t>
            </a:r>
            <a:endParaRPr/>
          </a:p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 diagrams / Infographics / pictures.</a:t>
            </a:r>
            <a:endParaRPr/>
          </a:p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understand.</a:t>
            </a:r>
            <a:endParaRPr/>
          </a:p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need to save the file in PPT and upload the same in the submission form provided. Word Doc or any other format will not be supported.</a:t>
            </a:r>
            <a:endParaRPr/>
          </a:p>
          <a:p>
            <a:pPr marL="542925" marR="0" lvl="1" indent="-271462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7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Instructions) when you upload the ppt.</a:t>
            </a:r>
            <a:endParaRPr/>
          </a:p>
          <a:p>
            <a:pPr marL="380048" marR="0" lvl="1" indent="-190024" algn="l" rtl="0">
              <a:lnSpc>
                <a:spcPct val="75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rgbClr val="FFF7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11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363" name="Google Shape;363;p11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364" name="Google Shape;364;p11"/>
          <p:cNvSpPr txBox="1"/>
          <p:nvPr/>
        </p:nvSpPr>
        <p:spPr>
          <a:xfrm>
            <a:off x="1028700" y="1276618"/>
            <a:ext cx="10238085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BF00"/>
                </a:solidFill>
                <a:latin typeface="Calibri"/>
                <a:ea typeface="Calibri"/>
                <a:cs typeface="Calibri"/>
                <a:sym typeface="Calibri"/>
              </a:rPr>
              <a:t>Important Instructions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 rot="3765278">
            <a:off x="632758" y="2414887"/>
            <a:ext cx="791883" cy="1280785"/>
          </a:xfrm>
          <a:custGeom>
            <a:avLst/>
            <a:gdLst/>
            <a:ahLst/>
            <a:cxnLst/>
            <a:rect l="l" t="t" r="r" b="b"/>
            <a:pathLst>
              <a:path w="791883" h="1280785" extrusionOk="0">
                <a:moveTo>
                  <a:pt x="0" y="0"/>
                </a:moveTo>
                <a:lnTo>
                  <a:pt x="791884" y="0"/>
                </a:lnTo>
                <a:lnTo>
                  <a:pt x="791884" y="1280785"/>
                </a:lnTo>
                <a:lnTo>
                  <a:pt x="0" y="1280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6" name="Google Shape;366;p11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0033"/>
            </a:gs>
            <a:gs pos="100000">
              <a:srgbClr val="8F005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12"/>
          <p:cNvGrpSpPr/>
          <p:nvPr/>
        </p:nvGrpSpPr>
        <p:grpSpPr>
          <a:xfrm rot="5400000">
            <a:off x="-3274961" y="-1691192"/>
            <a:ext cx="18288001" cy="11738079"/>
            <a:chOff x="-1" y="-1"/>
            <a:chExt cx="24384001" cy="15650771"/>
          </a:xfrm>
        </p:grpSpPr>
        <p:sp>
          <p:nvSpPr>
            <p:cNvPr id="376" name="Google Shape;376;p12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77" name="Google Shape;377;p12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78" name="Google Shape;378;p12"/>
          <p:cNvGrpSpPr/>
          <p:nvPr/>
        </p:nvGrpSpPr>
        <p:grpSpPr>
          <a:xfrm rot="5400000">
            <a:off x="8463116" y="-1587164"/>
            <a:ext cx="18288001" cy="11738078"/>
            <a:chOff x="-1" y="-1"/>
            <a:chExt cx="24384001" cy="15650771"/>
          </a:xfrm>
        </p:grpSpPr>
        <p:sp>
          <p:nvSpPr>
            <p:cNvPr id="379" name="Google Shape;379;p12"/>
            <p:cNvSpPr/>
            <p:nvPr/>
          </p:nvSpPr>
          <p:spPr>
            <a:xfrm rot="-5400000">
              <a:off x="8223158" y="-8223158"/>
              <a:ext cx="7937685" cy="24384000"/>
            </a:xfrm>
            <a:custGeom>
              <a:avLst/>
              <a:gdLst/>
              <a:ahLst/>
              <a:cxnLst/>
              <a:rect l="l" t="t" r="r" b="b"/>
              <a:pathLst>
                <a:path w="7937685" h="24384000" extrusionOk="0">
                  <a:moveTo>
                    <a:pt x="0" y="0"/>
                  </a:moveTo>
                  <a:lnTo>
                    <a:pt x="7937684" y="0"/>
                  </a:lnTo>
                  <a:lnTo>
                    <a:pt x="793768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684"/>
              </a:stretch>
            </a:blipFill>
            <a:ln>
              <a:noFill/>
            </a:ln>
          </p:spPr>
        </p:sp>
        <p:sp>
          <p:nvSpPr>
            <p:cNvPr id="380" name="Google Shape;380;p12"/>
            <p:cNvSpPr/>
            <p:nvPr/>
          </p:nvSpPr>
          <p:spPr>
            <a:xfrm rot="-5400000">
              <a:off x="8329193" y="-404036"/>
              <a:ext cx="7725613" cy="24384000"/>
            </a:xfrm>
            <a:custGeom>
              <a:avLst/>
              <a:gdLst/>
              <a:ahLst/>
              <a:cxnLst/>
              <a:rect l="l" t="t" r="r" b="b"/>
              <a:pathLst>
                <a:path w="7725613" h="24384000" extrusionOk="0">
                  <a:moveTo>
                    <a:pt x="0" y="0"/>
                  </a:moveTo>
                  <a:lnTo>
                    <a:pt x="7725614" y="0"/>
                  </a:lnTo>
                  <a:lnTo>
                    <a:pt x="7725614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74000"/>
              </a:blip>
              <a:stretch>
                <a:fillRect l="-685" r="-3467"/>
              </a:stretch>
            </a:blipFill>
            <a:ln>
              <a:noFill/>
            </a:ln>
          </p:spPr>
        </p:sp>
      </p:grpSp>
      <p:grpSp>
        <p:nvGrpSpPr>
          <p:cNvPr id="381" name="Google Shape;381;p12"/>
          <p:cNvGrpSpPr/>
          <p:nvPr/>
        </p:nvGrpSpPr>
        <p:grpSpPr>
          <a:xfrm>
            <a:off x="119473" y="-26969"/>
            <a:ext cx="18049703" cy="10196343"/>
            <a:chOff x="0" y="-38100"/>
            <a:chExt cx="4753800" cy="2685439"/>
          </a:xfrm>
        </p:grpSpPr>
        <p:sp>
          <p:nvSpPr>
            <p:cNvPr id="382" name="Google Shape;382;p12"/>
            <p:cNvSpPr/>
            <p:nvPr/>
          </p:nvSpPr>
          <p:spPr>
            <a:xfrm>
              <a:off x="0" y="0"/>
              <a:ext cx="4753661" cy="2647339"/>
            </a:xfrm>
            <a:custGeom>
              <a:avLst/>
              <a:gdLst/>
              <a:ahLst/>
              <a:cxnLst/>
              <a:rect l="l" t="t" r="r" b="b"/>
              <a:pathLst>
                <a:path w="4753661" h="2647339" extrusionOk="0">
                  <a:moveTo>
                    <a:pt x="15013" y="0"/>
                  </a:moveTo>
                  <a:lnTo>
                    <a:pt x="4738648" y="0"/>
                  </a:lnTo>
                  <a:cubicBezTo>
                    <a:pt x="4742630" y="0"/>
                    <a:pt x="4746448" y="1582"/>
                    <a:pt x="4749264" y="4397"/>
                  </a:cubicBezTo>
                  <a:cubicBezTo>
                    <a:pt x="4752079" y="7213"/>
                    <a:pt x="4753661" y="11031"/>
                    <a:pt x="4753661" y="15013"/>
                  </a:cubicBezTo>
                  <a:lnTo>
                    <a:pt x="4753661" y="2632326"/>
                  </a:lnTo>
                  <a:cubicBezTo>
                    <a:pt x="4753661" y="2640617"/>
                    <a:pt x="4746939" y="2647339"/>
                    <a:pt x="4738648" y="2647339"/>
                  </a:cubicBezTo>
                  <a:lnTo>
                    <a:pt x="15013" y="2647339"/>
                  </a:lnTo>
                  <a:cubicBezTo>
                    <a:pt x="6721" y="2647339"/>
                    <a:pt x="0" y="2640617"/>
                    <a:pt x="0" y="2632326"/>
                  </a:cubicBezTo>
                  <a:lnTo>
                    <a:pt x="0" y="15013"/>
                  </a:lnTo>
                  <a:cubicBezTo>
                    <a:pt x="0" y="6721"/>
                    <a:pt x="6721" y="0"/>
                    <a:pt x="15013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0" y="-38100"/>
              <a:ext cx="4753800" cy="268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2"/>
          <p:cNvGrpSpPr/>
          <p:nvPr/>
        </p:nvGrpSpPr>
        <p:grpSpPr>
          <a:xfrm>
            <a:off x="12915900" y="9505950"/>
            <a:ext cx="4114800" cy="576263"/>
            <a:chOff x="0" y="-38100"/>
            <a:chExt cx="5486400" cy="768350"/>
          </a:xfrm>
        </p:grpSpPr>
        <p:sp>
          <p:nvSpPr>
            <p:cNvPr id="385" name="Google Shape;385;p12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6387" b="-96387"/>
              </a:stretch>
            </a:blipFill>
            <a:ln>
              <a:noFill/>
            </a:ln>
          </p:spPr>
        </p:sp>
        <p:sp>
          <p:nvSpPr>
            <p:cNvPr id="386" name="Google Shape;386;p12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‹#›</a:t>
              </a:r>
              <a:endParaRPr/>
            </a:p>
          </p:txBody>
        </p:sp>
      </p:grpSp>
      <p:sp>
        <p:nvSpPr>
          <p:cNvPr id="387" name="Google Shape;387;p12"/>
          <p:cNvSpPr txBox="1"/>
          <p:nvPr/>
        </p:nvSpPr>
        <p:spPr>
          <a:xfrm>
            <a:off x="4028254" y="3535505"/>
            <a:ext cx="10231492" cy="365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9" b="0" i="0" u="none" strike="noStrike" cap="none">
                <a:solidFill>
                  <a:srgbClr val="CB6CE6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13580586" y="176560"/>
            <a:ext cx="4587987" cy="1423663"/>
          </a:xfrm>
          <a:custGeom>
            <a:avLst/>
            <a:gdLst/>
            <a:ahLst/>
            <a:cxnLst/>
            <a:rect l="l" t="t" r="r" b="b"/>
            <a:pathLst>
              <a:path w="3854069" h="1195926" extrusionOk="0">
                <a:moveTo>
                  <a:pt x="0" y="0"/>
                </a:moveTo>
                <a:lnTo>
                  <a:pt x="3854069" y="0"/>
                </a:lnTo>
                <a:lnTo>
                  <a:pt x="3854069" y="1195926"/>
                </a:lnTo>
                <a:lnTo>
                  <a:pt x="0" y="119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250" b="-925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1018</Words>
  <Application>Microsoft Office PowerPoint</Application>
  <PresentationFormat>Custom</PresentationFormat>
  <Paragraphs>162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LENOVO</cp:lastModifiedBy>
  <cp:revision>3</cp:revision>
  <dcterms:created xsi:type="dcterms:W3CDTF">2006-08-16T00:00:00Z</dcterms:created>
  <dcterms:modified xsi:type="dcterms:W3CDTF">2026-02-13T15:14:47Z</dcterms:modified>
</cp:coreProperties>
</file>